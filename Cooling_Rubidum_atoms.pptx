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67" r:id="rId11"/>
    <p:sldId id="270" r:id="rId12"/>
    <p:sldId id="263" r:id="rId13"/>
    <p:sldId id="264" r:id="rId14"/>
    <p:sldId id="266" r:id="rId15"/>
    <p:sldId id="265" r:id="rId1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32" autoAdjust="0"/>
  </p:normalViewPr>
  <p:slideViewPr>
    <p:cSldViewPr snapToGrid="0">
      <p:cViewPr varScale="1">
        <p:scale>
          <a:sx n="77" d="100"/>
          <a:sy n="77" d="100"/>
        </p:scale>
        <p:origin x="36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3E75E-C646-446B-9C95-3DAF75F66601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90009-54F5-4A63-9C3A-0561D9DE284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87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</a:t>
            </a:r>
            <a:r>
              <a:rPr lang="en-US" dirty="0" err="1"/>
              <a:t>dQ</a:t>
            </a:r>
            <a:r>
              <a:rPr lang="en-US" dirty="0"/>
              <a:t> comes from taking differential of von Neumann entropy and plugging in the Gibbs state</a:t>
            </a:r>
          </a:p>
          <a:p>
            <a:r>
              <a:rPr lang="en-US" dirty="0"/>
              <a:t>L^-1 is defined after projecting onto Q = 1-P = 1- </a:t>
            </a:r>
            <a:r>
              <a:rPr lang="en-US" dirty="0" err="1"/>
              <a:t>r_SS</a:t>
            </a:r>
            <a:r>
              <a:rPr lang="en-US" dirty="0"/>
              <a:t> Tr()</a:t>
            </a:r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90009-54F5-4A63-9C3A-0561D9DE2846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7318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minus sign is because it was originally \</a:t>
            </a:r>
            <a:r>
              <a:rPr lang="en-US" dirty="0" err="1"/>
              <a:t>partial_j</a:t>
            </a:r>
            <a:r>
              <a:rPr lang="en-US" dirty="0"/>
              <a:t> d </a:t>
            </a:r>
            <a:r>
              <a:rPr lang="en-US" dirty="0" err="1"/>
              <a:t>lam_j</a:t>
            </a:r>
            <a:r>
              <a:rPr lang="en-US" dirty="0"/>
              <a:t> </a:t>
            </a:r>
            <a:r>
              <a:rPr lang="en-US" dirty="0" err="1"/>
              <a:t>A_i</a:t>
            </a:r>
            <a:r>
              <a:rPr lang="en-US" dirty="0"/>
              <a:t> d </a:t>
            </a:r>
            <a:r>
              <a:rPr lang="en-US" dirty="0" err="1"/>
              <a:t>lam_i</a:t>
            </a:r>
            <a:r>
              <a:rPr lang="en-US" dirty="0"/>
              <a:t> = - \</a:t>
            </a:r>
            <a:r>
              <a:rPr lang="en-US" dirty="0" err="1"/>
              <a:t>partial_j</a:t>
            </a:r>
            <a:r>
              <a:rPr lang="en-US" dirty="0"/>
              <a:t> </a:t>
            </a:r>
            <a:r>
              <a:rPr lang="en-US" dirty="0" err="1"/>
              <a:t>A_i</a:t>
            </a:r>
            <a:r>
              <a:rPr lang="en-US" dirty="0"/>
              <a:t> d </a:t>
            </a:r>
            <a:r>
              <a:rPr lang="en-US" dirty="0" err="1"/>
              <a:t>lam_i</a:t>
            </a:r>
            <a:r>
              <a:rPr lang="en-US" dirty="0"/>
              <a:t> d </a:t>
            </a:r>
            <a:r>
              <a:rPr lang="en-US" dirty="0" err="1"/>
              <a:t>lam_j</a:t>
            </a:r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90009-54F5-4A63-9C3A-0561D9DE2846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4266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Adiabatically take omega23 to zero, instead of keeping both rabi freq. equal,</a:t>
            </a:r>
          </a:p>
          <a:p>
            <a:endParaRPr lang="en-US" dirty="0"/>
          </a:p>
          <a:p>
            <a:r>
              <a:rPr lang="en-US" dirty="0"/>
              <a:t>Instead of loops look at lines in control space</a:t>
            </a:r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90009-54F5-4A63-9C3A-0561D9DE2846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1533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Noah draw a picture</a:t>
            </a:r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90009-54F5-4A63-9C3A-0561D9DE2846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3935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eq for </a:t>
            </a:r>
            <a:r>
              <a:rPr lang="en-US" dirty="0" err="1"/>
              <a:t>gamma_m</a:t>
            </a:r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90009-54F5-4A63-9C3A-0561D9DE2846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1547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Sympathetic cooling</a:t>
            </a:r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90009-54F5-4A63-9C3A-0561D9DE2846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5680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A14A-FB6F-FB15-524F-8D9132A1E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CFB98-9B46-70DA-6725-20837255E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A38C5-F061-842D-A867-74AE8E5C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27EBC-D803-2C4D-2843-46F431FE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51FE2-A243-6F22-15C9-37B4355F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919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BD2E-3C61-2A91-4794-8F74F61A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1E40-8EB8-3F79-3115-53E2865C0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4E8F0-26B4-4C10-6A65-777CB9ED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EF42-501D-2255-B667-78C68BA9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41679-99B7-98D0-EE6B-8CC45A62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031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897AA-7A32-57DB-C538-2E74F6F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31A35-D50E-B8A7-0BC6-725985FEC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BB765-F03A-93C8-C64F-FD3FB1DE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E0D0D-02E1-FF12-5BD0-CCF6A9BBF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AB635-C8D6-019A-4D79-F1DE268B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460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0A19F-936D-FB57-F807-42AA8921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21C3D-2CA1-98EF-A109-201794C52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C849A-E57F-3B6E-9563-1F56BB06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80372-ADB8-466B-D486-326D5B01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6F62D-7AFB-E2AE-B4EA-C930306B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08B3D-F1D3-305C-1467-952B8450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461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955E-45DC-7162-CFFD-4CDD32D2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CD876-F2F5-1276-FB2F-975E16DF5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20A73-6508-4161-D634-207E7494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74CCC-7996-B2C1-C914-17BB17816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BD7A0-48EC-9B34-F57D-E98628F23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E8253-E6A2-8FDF-8FC9-AFED9C70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34F71-2150-BC11-25A9-E837DC2E7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A2B5-A483-4FF8-7360-31DDC45D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900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5C98-F209-DB37-E51B-FA77D742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6DF23-F6ED-B358-22D6-D8AD6C06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2C8BC-A043-6229-03F7-70115285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9495C-AEF2-7D06-AB2A-3D40EE7A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179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FD437-D8D6-F8EF-7E1D-F492EBB6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EF164-6AC9-DA61-9105-F62582D6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A9538-BA94-86B9-E0FE-624080E9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039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3557-5BDF-8E51-32DE-39D8BBCA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8F943-0E65-0AEF-093B-0ABD3776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6A848-EE74-926B-9A38-964CF87B6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24FE3-A837-3008-A6C8-0EAA6A12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5BDC8-209B-CD01-D49A-CE5F05DA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F9099-C060-687E-B270-CF6938D8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610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96C3-C981-0AE4-3925-0CA3D339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34C4C1-3EFA-8751-2416-0142C651C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FF56D-B46B-6715-1B58-A8E4FE56A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3EF86-78E5-EDB7-65DB-2B7794EE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E9892-061C-5B6F-6DCF-6E10983C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8B73-B339-628E-E334-7C6E0C07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52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5547-BF0E-A001-D25F-16F3147A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EBF32-5A37-F29A-51C7-F7FB4EA37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B67A3-AD0B-B194-BEE0-E89864D7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5B2F8-3830-B489-4590-BCBEE7B5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D80B1-46E5-8EBD-2989-7ACE7E8D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872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11BE2-9BF1-4304-ED83-3DA87FDFB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AB3A1-8FF7-58DB-5203-2069EF8EC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CBE1-1C7D-D41C-A647-FEE18E2F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7111A-60A6-761C-1732-D480F586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2220B-B56E-703C-69C2-0E184D1D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490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D59F1-1855-BE51-4A8C-60CDA135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338D6-467F-A6E3-6709-EA842F5BD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F9FBD-CEF0-69BE-4904-856A8C1BF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B4CB2-0617-46C2-95FF-27367E479574}" type="datetimeFigureOut">
              <a:rPr lang="pl-PL" smtClean="0"/>
              <a:t>6.05.2026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14CED-D97E-7FA5-8ECD-CDF2618D4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18B1B-6538-8E0C-8423-C118F32A1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969CF-7075-4835-8504-D570CE7808B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88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hub.com/JGarwola/Cooling-Rubidium-atom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17FC-0069-09CC-81F2-676CC4E11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797" y="809741"/>
            <a:ext cx="11694405" cy="2555913"/>
          </a:xfrm>
        </p:spPr>
        <p:txBody>
          <a:bodyPr>
            <a:normAutofit fontScale="90000"/>
          </a:bodyPr>
          <a:lstStyle/>
          <a:p>
            <a:r>
              <a:rPr lang="en-US" dirty="0"/>
              <a:t>Cooling Rubidium atoms</a:t>
            </a:r>
            <a:br>
              <a:rPr lang="en-US" dirty="0"/>
            </a:br>
            <a:r>
              <a:rPr lang="en-US" dirty="0"/>
              <a:t>with quasi-static cycles </a:t>
            </a:r>
            <a:br>
              <a:rPr lang="en-US" dirty="0"/>
            </a:br>
            <a:r>
              <a:rPr lang="en-US" dirty="0"/>
              <a:t>on steady state manifolds</a:t>
            </a:r>
            <a:endParaRPr lang="pl-P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4E7FD-EE2B-6589-236E-C1E2B7D08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Jakub Garwola, Noah Baker</a:t>
            </a:r>
          </a:p>
        </p:txBody>
      </p:sp>
    </p:spTree>
    <p:extLst>
      <p:ext uri="{BB962C8B-B14F-4D97-AF65-F5344CB8AC3E}">
        <p14:creationId xmlns:p14="http://schemas.microsoft.com/office/powerpoint/2010/main" val="26040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64C7-C7F7-8976-36B7-95C0814A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Setup: open system dynamics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C9654-9DA8-EE53-1ADA-CF01785A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9916"/>
          </a:xfrm>
        </p:spPr>
        <p:txBody>
          <a:bodyPr/>
          <a:lstStyle/>
          <a:p>
            <a:r>
              <a:rPr lang="en-US" dirty="0"/>
              <a:t>Let the system evolve according to a parameter-dependent map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                                    are the control parameters, and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the steady state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CFDC4-2F94-9042-243B-EA182E28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521" y="2375223"/>
            <a:ext cx="4424957" cy="1419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CA2E1-75F3-7B81-0F77-6FA0E104A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650" y="3862465"/>
            <a:ext cx="2448733" cy="403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D36B90-641D-5D4A-109A-5DA8EBE27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258" y="4585192"/>
            <a:ext cx="4493484" cy="1008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C9F04F-6D67-1D98-3FBF-8FBE253F3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595" y="5899305"/>
            <a:ext cx="2237423" cy="5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17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C6CF-EF44-3EA1-7E1D-570949D0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law in the quasi-static regime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58256-BB3C-F4EE-7295-B0249E57C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222"/>
            <a:ext cx="10515600" cy="4753653"/>
          </a:xfrm>
        </p:spPr>
        <p:txBody>
          <a:bodyPr/>
          <a:lstStyle/>
          <a:p>
            <a:r>
              <a:rPr lang="en-US" dirty="0"/>
              <a:t>If the change parameters, such that                               where the </a:t>
            </a:r>
            <a:r>
              <a:rPr lang="en-US" dirty="0" err="1"/>
              <a:t>rhs</a:t>
            </a:r>
            <a:r>
              <a:rPr lang="en-US" dirty="0"/>
              <a:t> is the spectral gap of the dynamics generator, then at each time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And from the first law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Heat differential can be decomposed into the reversible and dissipative part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B1742-2EC8-ACC9-EA42-DBB21CED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5" y="1646295"/>
            <a:ext cx="2008583" cy="529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EAD33F-1CC9-FA9F-9914-BBEB608CA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261" y="2818748"/>
            <a:ext cx="1945137" cy="5292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B98A0D-1D17-5AC2-6217-7D389EFC7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691" y="3614056"/>
            <a:ext cx="3818784" cy="1000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CFCD5D-F5C6-0FA9-3190-999ADD315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295" y="5695693"/>
            <a:ext cx="5096280" cy="529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E05655-E29F-3247-CA97-3D0F2F0C89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725139"/>
            <a:ext cx="2798978" cy="78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0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1621-614A-24D8-336B-280F1978B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020"/>
            <a:ext cx="10515600" cy="1325563"/>
          </a:xfrm>
        </p:spPr>
        <p:txBody>
          <a:bodyPr/>
          <a:lstStyle/>
          <a:p>
            <a:r>
              <a:rPr lang="en-US" dirty="0"/>
              <a:t>Cycle heat and curvature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2ED61-C27E-FB03-6349-0F9168492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575" y="1649504"/>
            <a:ext cx="11278849" cy="5056096"/>
          </a:xfrm>
        </p:spPr>
        <p:txBody>
          <a:bodyPr/>
          <a:lstStyle/>
          <a:p>
            <a:r>
              <a:rPr lang="en-US" dirty="0"/>
              <a:t>Using the chain rule we write</a:t>
            </a:r>
          </a:p>
          <a:p>
            <a:endParaRPr lang="en-US" dirty="0"/>
          </a:p>
          <a:p>
            <a:r>
              <a:rPr lang="en-US" dirty="0"/>
              <a:t>Then from stokes theorem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useful cycles will encircle regions of high curvature.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45BB5-3369-9F85-2525-EFD16DFFC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773" y="1422114"/>
            <a:ext cx="6364800" cy="1006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915D5E-1180-4931-C397-1703412C3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505" y="2371915"/>
            <a:ext cx="5245007" cy="268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5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4CB0-476A-41C3-5115-5EBAAA55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Dissipative heat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A56B-5DBD-C5FB-84FF-567235982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0073"/>
          </a:xfrm>
        </p:spPr>
        <p:txBody>
          <a:bodyPr/>
          <a:lstStyle/>
          <a:p>
            <a:r>
              <a:rPr lang="en-US" dirty="0"/>
              <a:t>Cycle efficiency will be reduced due to hear dissipation</a:t>
            </a:r>
          </a:p>
          <a:p>
            <a:r>
              <a:rPr lang="en-US" dirty="0"/>
              <a:t>Dissipative heat depends on the cycle speed:</a:t>
            </a:r>
            <a:endParaRPr lang="pl-P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2C61EE-C19B-CD3C-36E7-7D174E456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892" y="3239240"/>
            <a:ext cx="6550215" cy="269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6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2B1E-B628-F904-1DF1-E78C7E68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740"/>
            <a:ext cx="10515600" cy="1325563"/>
          </a:xfrm>
        </p:spPr>
        <p:txBody>
          <a:bodyPr/>
          <a:lstStyle/>
          <a:p>
            <a:r>
              <a:rPr lang="en-US" dirty="0"/>
              <a:t>Example 1: 87Rb D2 line internal state cooling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1EFA0-9BE9-28DB-7CDD-EBC23303C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504" y="1452458"/>
            <a:ext cx="11148935" cy="5178191"/>
          </a:xfrm>
        </p:spPr>
        <p:txBody>
          <a:bodyPr/>
          <a:lstStyle/>
          <a:p>
            <a:r>
              <a:rPr lang="en-US" dirty="0"/>
              <a:t>Two-level system was studied by Eric Bittner [1], we study three-level system representing transitions in a 87Rb atom, let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Additionally, let there be dissipation for 1-3 and 1-2 transitions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add dephasing, but it does not change the results 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C8D4E-DD10-AE24-DB61-28CFBFCE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054" y="2346984"/>
            <a:ext cx="4165891" cy="1192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44BF90-4297-094C-21D8-0F6DF59BD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077" y="4469936"/>
            <a:ext cx="4420217" cy="485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E5AA64-0B4B-0977-65EE-C7E4F0DA4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402" y="5920415"/>
            <a:ext cx="3453769" cy="426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47C3F8-50EE-91EC-2A43-B2EC18F4D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185" y="5886563"/>
            <a:ext cx="3694031" cy="49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2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44B7-0E7D-BF53-06D0-096672E6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Parameters</a:t>
            </a:r>
            <a:endParaRPr lang="pl-P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EA6BEA-2D8F-1479-6432-9F23E933B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86" y="1765054"/>
            <a:ext cx="7395227" cy="233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5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CEA1-B3D5-91D0-E39B-261204F6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Results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3199A-7592-20A7-C279-487963524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08161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We assumed parameters values and their ranges accessible in the lab,</a:t>
            </a:r>
          </a:p>
          <a:p>
            <a:r>
              <a:rPr lang="en-US" dirty="0"/>
              <a:t>Louisvillian gap timescale was around 70 microseconds, </a:t>
            </a:r>
          </a:p>
          <a:p>
            <a:r>
              <a:rPr lang="en-US" dirty="0"/>
              <a:t>Example cycle, approximated by red circle has </a:t>
            </a:r>
            <a:r>
              <a:rPr lang="en-US" dirty="0" err="1"/>
              <a:t>Q_cyc</a:t>
            </a:r>
            <a:r>
              <a:rPr lang="en-US" dirty="0"/>
              <a:t> = </a:t>
            </a:r>
            <a:r>
              <a:rPr lang="en-US" dirty="0" err="1"/>
              <a:t>k_B</a:t>
            </a:r>
            <a:r>
              <a:rPr lang="en-US" dirty="0"/>
              <a:t> T, where T was around 3mK</a:t>
            </a:r>
          </a:p>
          <a:p>
            <a:r>
              <a:rPr lang="en-US" dirty="0"/>
              <a:t>Dissipative heat was negligible</a:t>
            </a:r>
          </a:p>
          <a:p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58626-B5A0-BBF8-743B-8AF9825F2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016" y="1304016"/>
            <a:ext cx="6276085" cy="518885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49F5DF1-8EA2-F54A-55A6-6CA6FDE0F88B}"/>
              </a:ext>
            </a:extLst>
          </p:cNvPr>
          <p:cNvSpPr/>
          <p:nvPr/>
        </p:nvSpPr>
        <p:spPr>
          <a:xfrm>
            <a:off x="6492816" y="1690688"/>
            <a:ext cx="4272950" cy="41061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718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3741-6B87-B3AA-48CE-A842D6773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227" y="160260"/>
            <a:ext cx="10515600" cy="1325563"/>
          </a:xfrm>
        </p:spPr>
        <p:txBody>
          <a:bodyPr/>
          <a:lstStyle/>
          <a:p>
            <a:r>
              <a:rPr lang="en-US" dirty="0"/>
              <a:t>Example 2: Collective mode motion coupled to magnetic sublevels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8D019-3FC1-42CF-C32A-F4BA0C32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9936"/>
          </a:xfrm>
        </p:spPr>
        <p:txBody>
          <a:bodyPr/>
          <a:lstStyle/>
          <a:p>
            <a:r>
              <a:rPr lang="en-US" dirty="0"/>
              <a:t>Now we want to focus on cooling the motional DOF, modelled by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Which couple to a spin                                                               via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Control parameters are: trap frequency and position, spin detuning and Rabi frequency</a:t>
            </a:r>
          </a:p>
          <a:p>
            <a:endParaRPr lang="en-US" dirty="0"/>
          </a:p>
          <a:p>
            <a:endParaRPr lang="pl-P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D458E6-CC90-E9BC-C4FA-215680AE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610" y="2397114"/>
            <a:ext cx="4432092" cy="680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5BCFB1-98F8-7041-28E7-29B820A6E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744" y="3198542"/>
            <a:ext cx="4346125" cy="801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A768A0-900F-4296-700C-1EB4A7BE5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645" y="4219783"/>
            <a:ext cx="4875902" cy="79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2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65CB-83F7-75D8-597E-B61F3A608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Dissipator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CF0D-006D-805E-8CEA-084F72E42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614"/>
            <a:ext cx="10515600" cy="4769505"/>
          </a:xfrm>
        </p:spPr>
        <p:txBody>
          <a:bodyPr/>
          <a:lstStyle/>
          <a:p>
            <a:r>
              <a:rPr lang="en-US" dirty="0"/>
              <a:t>We consider for terms in the dissipator:</a:t>
            </a:r>
          </a:p>
          <a:p>
            <a:pPr lvl="1"/>
            <a:r>
              <a:rPr lang="en-US" dirty="0"/>
              <a:t>Optical pumping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Dephasing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Thermal loss/excitations  </a:t>
            </a:r>
          </a:p>
          <a:p>
            <a:endParaRPr lang="en-US" dirty="0"/>
          </a:p>
          <a:p>
            <a:r>
              <a:rPr lang="en-US" dirty="0"/>
              <a:t>Motional thermalization rate \</a:t>
            </a:r>
            <a:r>
              <a:rPr lang="en-US" dirty="0" err="1"/>
              <a:t>Gamma_m</a:t>
            </a:r>
            <a:r>
              <a:rPr lang="en-US" dirty="0"/>
              <a:t> depends on the trap frequency and the scattering rate</a:t>
            </a:r>
          </a:p>
          <a:p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64D3A-6AEF-3BCC-5BCA-C4954516B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410" y="2248917"/>
            <a:ext cx="2706265" cy="534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0E3BD4-7ABF-18AD-923B-9AE1FB20C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504" y="2807541"/>
            <a:ext cx="2500755" cy="876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2D42D0-3F80-29BB-1E0B-3CEF4BF2F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025" y="3536627"/>
            <a:ext cx="3641160" cy="585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E22393-2E58-EFBA-02A2-F59B1AFC4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973" y="4016284"/>
            <a:ext cx="3136491" cy="5275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179C6E-AEEE-1FFD-8DE9-E557DD7F0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739" y="5387602"/>
            <a:ext cx="3837450" cy="86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32FE-5974-2369-6685-B6107076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Parameters</a:t>
            </a:r>
            <a:endParaRPr lang="pl-P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AB778-EC8A-A07D-8201-5C000BB3E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960" y="1825625"/>
            <a:ext cx="41920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71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91CA-98CD-AEC9-62DE-805B285E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Results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26DD9-FA37-D9FC-58E3-96E7F136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478" y="1795645"/>
            <a:ext cx="5301522" cy="4351338"/>
          </a:xfrm>
        </p:spPr>
        <p:txBody>
          <a:bodyPr/>
          <a:lstStyle/>
          <a:p>
            <a:r>
              <a:rPr lang="en-US" dirty="0"/>
              <a:t>For now we assumed all parameters to be 1,</a:t>
            </a:r>
          </a:p>
          <a:p>
            <a:r>
              <a:rPr lang="en-US" dirty="0"/>
              <a:t>We choose the trap frequency and position as the control parameters,</a:t>
            </a:r>
          </a:p>
          <a:p>
            <a:r>
              <a:rPr lang="en-US" dirty="0"/>
              <a:t>Realistic parameters needed to evaluate the speed limit and the cycle heat</a:t>
            </a:r>
          </a:p>
          <a:p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14EFC-8A89-FD7C-964E-0598832AD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665" y="523469"/>
            <a:ext cx="5249008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9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D71C-B85F-C462-4F55-92D92261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we get the curvature?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EDDDC-6FC4-2D7A-C66F-56F4584A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Symbolic and numerical scripts in Mathematica, takes the Hamiltonian and dissipators as input, computes the heat curvature</a:t>
            </a:r>
          </a:p>
          <a:p>
            <a:r>
              <a:rPr lang="en-US" dirty="0"/>
              <a:t>Once given a cycle path, returns </a:t>
            </a:r>
            <a:r>
              <a:rPr lang="en-US" dirty="0" err="1"/>
              <a:t>Q_rev</a:t>
            </a:r>
            <a:r>
              <a:rPr lang="en-US" dirty="0"/>
              <a:t> and </a:t>
            </a:r>
            <a:r>
              <a:rPr lang="en-US" dirty="0" err="1"/>
              <a:t>Q_diss</a:t>
            </a:r>
            <a:r>
              <a:rPr lang="en-US" dirty="0"/>
              <a:t>,</a:t>
            </a:r>
          </a:p>
          <a:p>
            <a:r>
              <a:rPr lang="en-US" dirty="0"/>
              <a:t>Up to dim(H) = 3, we can do symbolic computation,</a:t>
            </a:r>
          </a:p>
          <a:p>
            <a:r>
              <a:rPr lang="en-US" dirty="0"/>
              <a:t>Above that, we rely on numerics, same would apply for continuous-variable real-space representation (</a:t>
            </a:r>
            <a:r>
              <a:rPr lang="pl-PL" dirty="0"/>
              <a:t>Gross–Pitaevskii</a:t>
            </a:r>
            <a:r>
              <a:rPr lang="en-US" dirty="0"/>
              <a:t> equation)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28757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11CB-691F-2E7D-5C0E-D5C8862C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343151" cy="1160000"/>
          </a:xfrm>
        </p:spPr>
        <p:txBody>
          <a:bodyPr>
            <a:normAutofit fontScale="90000"/>
          </a:bodyPr>
          <a:lstStyle/>
          <a:p>
            <a:r>
              <a:rPr lang="en-US" dirty="0"/>
              <a:t>Scripts are available at </a:t>
            </a:r>
            <a:r>
              <a:rPr lang="pl-PL" dirty="0">
                <a:hlinkClick r:id="rId2"/>
              </a:rPr>
              <a:t>J</a:t>
            </a:r>
            <a:r>
              <a:rPr lang="en-US" dirty="0">
                <a:hlinkClick r:id="rId2"/>
              </a:rPr>
              <a:t>G</a:t>
            </a:r>
            <a:r>
              <a:rPr lang="pl-PL" dirty="0">
                <a:hlinkClick r:id="rId2"/>
              </a:rPr>
              <a:t>arwola/Cooling-Rubidium-atoms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8FC59-96AC-561A-4981-4F7FF1F0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2869" cy="4351338"/>
          </a:xfrm>
        </p:spPr>
        <p:txBody>
          <a:bodyPr/>
          <a:lstStyle/>
          <a:p>
            <a:endParaRPr lang="en-US" dirty="0"/>
          </a:p>
          <a:p>
            <a:endParaRPr lang="pl-P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53F95-BA73-ACBE-1873-CC01F9493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71" y="5629644"/>
            <a:ext cx="6210925" cy="7862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AC135-A25B-877F-B668-987505A97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1" y="1160000"/>
            <a:ext cx="7184634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71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8D61-6DF9-E7FB-B9DF-0A71F919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BD39-1B7F-DEED-D6A5-AFD72264E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collective mode picture accurate in the lab?</a:t>
            </a:r>
          </a:p>
          <a:p>
            <a:r>
              <a:rPr lang="en-US" dirty="0"/>
              <a:t>How do we define temperature for Example 2?</a:t>
            </a:r>
          </a:p>
          <a:p>
            <a:r>
              <a:rPr lang="en-US" dirty="0"/>
              <a:t>Is our definition of heat the right way to quantify the cooling of the BEC?</a:t>
            </a:r>
          </a:p>
          <a:p>
            <a:r>
              <a:rPr lang="en-US" dirty="0"/>
              <a:t>How would this analysis look like for Potassium atoms?</a:t>
            </a:r>
          </a:p>
          <a:p>
            <a:r>
              <a:rPr lang="en-US" dirty="0"/>
              <a:t>What is the cooling limit with this approach? (due to thermal noise from the baths or stochastic fluctuations of the control parameters)</a:t>
            </a:r>
          </a:p>
          <a:p>
            <a:endParaRPr lang="en-US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7043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633</Words>
  <Application>Microsoft Office PowerPoint</Application>
  <PresentationFormat>Widescreen</PresentationFormat>
  <Paragraphs>97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Cooling Rubidium atoms with quasi-static cycles  on steady state manifolds</vt:lpstr>
      <vt:lpstr>Setup: open system dynamics</vt:lpstr>
      <vt:lpstr>First law in the quasi-static regime</vt:lpstr>
      <vt:lpstr>Cycle heat and curvature</vt:lpstr>
      <vt:lpstr>Dissipative heat</vt:lpstr>
      <vt:lpstr>Example 1: 87Rb D2 line internal state cooling</vt:lpstr>
      <vt:lpstr>Example 1: Parameters</vt:lpstr>
      <vt:lpstr>Example 1: Results</vt:lpstr>
      <vt:lpstr>Example 2: Collective mode motion coupled to magnetic sublevels</vt:lpstr>
      <vt:lpstr>Example 2: Dissipator</vt:lpstr>
      <vt:lpstr>Example 2: Parameters</vt:lpstr>
      <vt:lpstr>Example 2: Results</vt:lpstr>
      <vt:lpstr>How did we get the curvature?</vt:lpstr>
      <vt:lpstr>Scripts are available at JGarwola/Cooling-Rubidium-atoms</vt:lpstr>
      <vt:lpstr>Questions: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Garwoła</dc:creator>
  <cp:lastModifiedBy>Jakub Garwoła</cp:lastModifiedBy>
  <cp:revision>8</cp:revision>
  <dcterms:created xsi:type="dcterms:W3CDTF">2026-04-29T18:53:58Z</dcterms:created>
  <dcterms:modified xsi:type="dcterms:W3CDTF">2026-05-07T13:51:05Z</dcterms:modified>
</cp:coreProperties>
</file>